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MULTI-LAYERED DEFENSE FOR LLM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Secure Systems from 3,000-5,000+ Security Tests</a:t>
            </a:r>
          </a:p>
          <a:p>
            <a:r>
              <a:t>Mitchell Parker &amp; Wally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Urgent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deployed in:</a:t>
            </a:r>
          </a:p>
          <a:p>
            <a:r>
              <a:t>- Healthcare: patient triage</a:t>
            </a:r>
          </a:p>
          <a:p>
            <a:r>
              <a:t>- Finance: fraud detection</a:t>
            </a:r>
          </a:p>
          <a:p>
            <a:r>
              <a:t>- Consumer apps: chatbots, assistants</a:t>
            </a:r>
          </a:p>
          <a:p/>
          <a:p>
            <a:r>
              <a:t>Security validation:</a:t>
            </a:r>
          </a:p>
          <a:p>
            <a:r>
              <a:t>- Few standardized tests</a:t>
            </a:r>
          </a:p>
          <a:p>
            <a:r>
              <a:t>- No validated architectures</a:t>
            </a:r>
          </a:p>
          <a:p>
            <a:r>
              <a:t>- Prompt engineering isn't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3,000-5,000+ Security Tests | 7 Weeks | May-June 2026</a:t>
            </a:r>
          </a:p>
          <a:p/>
          <a:p>
            <a:r>
              <a:t>Prompt Injection - 70 vectors, 4 models - 24% success rate</a:t>
            </a:r>
          </a:p>
          <a:p>
            <a:r>
              <a:t>Multi-Agent Chains - 276 tests - 97.8% persistence</a:t>
            </a:r>
          </a:p>
          <a:p>
            <a:r>
              <a:t>Data Exfiltration - 370 tests - Covert channels work</a:t>
            </a:r>
          </a:p>
          <a:p>
            <a:r>
              <a:t>Jailbreaking - 520+ tests - 29% initial, &lt;3% verified</a:t>
            </a:r>
          </a:p>
          <a:p>
            <a:r>
              <a:t>Tool Use - 150+ tests - Multiple injection paths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Things That Don't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multiple chains           X 98% persistence either way</a:t>
            </a:r>
          </a:p>
          <a:p>
            <a:r>
              <a:t>Require JSON output           X No security effect found</a:t>
            </a:r>
          </a:p>
          <a:p>
            <a:r>
              <a:t>Mix model types               X Only 10-point improvement</a:t>
            </a:r>
          </a:p>
          <a:p>
            <a:r>
              <a:t>Write better prompts          X 76% eventual bypass rate</a:t>
            </a:r>
          </a:p>
          <a:p>
            <a:r>
              <a:t>One model can verify           X Overconfidence bias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 of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Are LLMs Vulnerable?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Capability                    Security Risk</a:t>
            </a:r>
          </a:p>
          <a:p>
            <a:r>
              <a:t>─────────────────────────────────────────────────</a:t>
            </a:r>
          </a:p>
          <a:p>
            <a:r>
              <a:t>Context window                 Retains "forgotten" info</a:t>
            </a:r>
          </a:p>
          <a:p>
            <a:r>
              <a:t>Instruction following          Complicates guardrails</a:t>
            </a:r>
          </a:p>
          <a:p>
            <a:r>
              <a:t>Pattern matching               Mirrors attack patterns  </a:t>
            </a:r>
          </a:p>
          <a:p>
            <a:r>
              <a:t>Helpfulness bias               May override safety</a:t>
            </a:r>
          </a:p>
          <a:p>
            <a:r>
              <a:t>Meta-reasoning                 Identifies &amp; works around</a:t>
            </a:r>
          </a:p>
          <a:p/>
          <a:p>
            <a:r>
              <a:t>Every feature that makes LLMs useful...</a:t>
            </a:r>
          </a:p>
          <a:p>
            <a:r>
              <a:t>creates a vulnerability surface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 of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Five-Layer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EXTERNAL INPUT</a:t>
            </a:r>
          </a:p>
          <a:p>
            <a:r>
              <a:t>═══════════════════════════════════════</a:t>
            </a:r>
          </a:p>
          <a:p/>
          <a:p>
            <a:r>
              <a:t>LAYER 1: Input Sanitization &amp; Context Isolation</a:t>
            </a:r>
          </a:p>
          <a:p>
            <a:r>
              <a:t>- Prompt template enforcement</a:t>
            </a:r>
          </a:p>
          <a:p>
            <a:r>
              <a:t>- Parameterized user data  </a:t>
            </a:r>
          </a:p>
          <a:p>
            <a:r>
              <a:t>- Context window partitioning</a:t>
            </a:r>
          </a:p>
          <a:p/>
          <a:p>
            <a:r>
              <a:t>LAYER 2: Multi-Agent Verification</a:t>
            </a:r>
          </a:p>
          <a:p>
            <a:r>
              <a:t>- Independent task decomposition</a:t>
            </a:r>
          </a:p>
          <a:p>
            <a:r>
              <a:t>- Heterogeneous agent diversity</a:t>
            </a:r>
          </a:p>
          <a:p>
            <a:r>
              <a:t>- Cross-verification checkpoints</a:t>
            </a:r>
          </a:p>
          <a:p/>
          <a:p>
            <a:r>
              <a:t>LAYER 3: Output Validation</a:t>
            </a:r>
          </a:p>
          <a:p>
            <a:r>
              <a:t>- Schema enforcement</a:t>
            </a:r>
          </a:p>
          <a:p>
            <a:r>
              <a:t>- Behavioral monitoring</a:t>
            </a:r>
          </a:p>
          <a:p>
            <a:r>
              <a:t>- Anomaly detection</a:t>
            </a:r>
          </a:p>
          <a:p/>
          <a:p>
            <a:r>
              <a:t>LAYER 4: Infrastructure Boundaries</a:t>
            </a:r>
          </a:p>
          <a:p>
            <a:r>
              <a:t>- Tool use isolation</a:t>
            </a:r>
          </a:p>
          <a:p>
            <a:r>
              <a:t>- Network segmentation</a:t>
            </a:r>
          </a:p>
          <a:p>
            <a:r>
              <a:t>- Least-privilege execution</a:t>
            </a:r>
          </a:p>
          <a:p/>
          <a:p>
            <a:r>
              <a:t>LAYER 5: Temporal Controls</a:t>
            </a:r>
          </a:p>
          <a:p>
            <a:r>
              <a:t>- Session management</a:t>
            </a:r>
          </a:p>
          <a:p>
            <a:r>
              <a:t>- Rate limiting</a:t>
            </a:r>
          </a:p>
          <a:p>
            <a:r>
              <a:t>- Time-based context purging</a:t>
            </a:r>
          </a:p>
          <a:p/>
          <a:p>
            <a:r>
              <a:t>═══════════════════════════════════════</a:t>
            </a:r>
          </a:p>
          <a:p>
            <a:r>
              <a:t>EXTERNAL OUTPUT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6675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 of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1: Input Sanitization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Controls That Matter:</a:t>
            </a:r>
          </a:p>
          <a:p/>
          <a:p>
            <a:r>
              <a:t>1. Template Boundaries</a:t>
            </a:r>
          </a:p>
          <a:p>
            <a:r>
              <a:t>   User data never controls structure</a:t>
            </a:r>
          </a:p>
          <a:p>
            <a:r>
              <a:t>   </a:t>
            </a:r>
          </a:p>
          <a:p>
            <a:r>
              <a:t>2. Operation Whitelists</a:t>
            </a:r>
          </a:p>
          <a:p>
            <a:r>
              <a:t>   Only named operations allowed</a:t>
            </a:r>
          </a:p>
          <a:p>
            <a:r>
              <a:t>   </a:t>
            </a:r>
          </a:p>
          <a:p>
            <a:r>
              <a:t>3. Token Budgets</a:t>
            </a:r>
          </a:p>
          <a:p>
            <a:r>
              <a:t>   Each input partition has hard limits</a:t>
            </a:r>
          </a:p>
          <a:p/>
          <a:p>
            <a:r>
              <a:t>Finding: These reduced injection success from 24% to ~14%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2: Multi-Agent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Anti-Pattern: Linear Chains</a:t>
            </a:r>
          </a:p>
          <a:p>
            <a:r>
              <a:t>User → Agent 1 → Agent 2 → Agent 3 → Output</a:t>
            </a:r>
          </a:p>
          <a:p>
            <a:r>
              <a:t>    ↓        ↓        ↓        ↓</a:t>
            </a:r>
          </a:p>
          <a:p>
            <a:r>
              <a:t>  Inject → Inject → Inject → Inject (97.8%)</a:t>
            </a:r>
          </a:p>
          <a:p/>
          <a:p>
            <a:r>
              <a:t>Better: Independent Verification</a:t>
            </a:r>
          </a:p>
          <a:p>
            <a:r>
              <a:t>    User</a:t>
            </a:r>
          </a:p>
          <a:p>
            <a:r>
              <a:t>      │</a:t>
            </a:r>
          </a:p>
          <a:p>
            <a:r>
              <a:t>   ┌──▼──┐</a:t>
            </a:r>
          </a:p>
          <a:p>
            <a:r>
              <a:t>   │Router│</a:t>
            </a:r>
          </a:p>
          <a:p>
            <a:r>
              <a:t>   └──┬──┘</a:t>
            </a:r>
          </a:p>
          <a:p>
            <a:r>
              <a:t>     │</a:t>
            </a:r>
          </a:p>
          <a:p>
            <a:r>
              <a:t>┌────┼────┬───────┐</a:t>
            </a:r>
          </a:p>
          <a:p>
            <a:r>
              <a:t>▼    ▼    ▼</a:t>
            </a:r>
          </a:p>
          <a:p>
            <a:r>
              <a:t>┌───┐ ┌───┐ ┌───┐</a:t>
            </a:r>
          </a:p>
          <a:p>
            <a:r>
              <a:t>│A1 │ │A2 │ │A3 │</a:t>
            </a:r>
          </a:p>
          <a:p>
            <a:r>
              <a:t>└─┬─┘ └─┬─┘ └─┬─┘</a:t>
            </a:r>
          </a:p>
          <a:p>
            <a:r>
              <a:t> └──┬──┴─────┘</a:t>
            </a:r>
          </a:p>
          <a:p>
            <a:r>
              <a:t>     ▼</a:t>
            </a:r>
          </a:p>
          <a:p>
            <a:r>
              <a:t> ┌─────┐</a:t>
            </a:r>
          </a:p>
          <a:p>
            <a:r>
              <a:t> │CONS│ ← Consensus</a:t>
            </a:r>
          </a:p>
          <a:p>
            <a:r>
              <a:t> └──┬─┘</a:t>
            </a:r>
          </a:p>
          <a:p>
            <a:r>
              <a:t>     ▼</a:t>
            </a:r>
          </a:p>
          <a:p>
            <a:r>
              <a:t> ┌─────┐</a:t>
            </a:r>
          </a:p>
          <a:p>
            <a:r>
              <a:t> │CHECK│ ← Verify</a:t>
            </a:r>
          </a:p>
          <a:p>
            <a:r>
              <a:t> └─────┘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3: Output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Output Pipeline:</a:t>
            </a:r>
          </a:p>
          <a:p/>
          <a:p>
            <a:r>
              <a:t>LLM Output</a:t>
            </a:r>
          </a:p>
          <a:p>
            <a:r>
              <a:t>     │</a:t>
            </a:r>
          </a:p>
          <a:p>
            <a:r>
              <a:t>     ▼</a:t>
            </a:r>
          </a:p>
          <a:p>
            <a:r>
              <a:t> ┌─────────┐</a:t>
            </a:r>
          </a:p>
          <a:p>
            <a:r>
              <a:t> │ SCHEMA   │  Expected format?</a:t>
            </a:r>
          </a:p>
          <a:p>
            <a:r>
              <a:t> │ CHECK   │</a:t>
            </a:r>
          </a:p>
          <a:p>
            <a:r>
              <a:t> └────┬────┘</a:t>
            </a:r>
          </a:p>
          <a:p>
            <a:r>
              <a:t>     │</a:t>
            </a:r>
          </a:p>
          <a:p>
            <a:r>
              <a:t>     ▼</a:t>
            </a:r>
          </a:p>
          <a:p>
            <a:r>
              <a:t> ┌─────────┐</a:t>
            </a:r>
          </a:p>
          <a:p>
            <a:r>
              <a:t> │ SEMANTIC│  Content reasonable?</a:t>
            </a:r>
          </a:p>
          <a:p>
            <a:r>
              <a:t> │ ANALYSIS│</a:t>
            </a:r>
          </a:p>
          <a:p>
            <a:r>
              <a:t> └────┬────┘</a:t>
            </a:r>
          </a:p>
          <a:p>
            <a:r>
              <a:t>     │</a:t>
            </a:r>
          </a:p>
          <a:p>
            <a:r>
              <a:t>     ▼</a:t>
            </a:r>
          </a:p>
          <a:p>
            <a:r>
              <a:t> ┌─────────┐</a:t>
            </a:r>
          </a:p>
          <a:p>
            <a:r>
              <a:t> │ SAFETY  │  Suspicious patterns?</a:t>
            </a:r>
          </a:p>
          <a:p>
            <a:r>
              <a:t> │ SCAN   │</a:t>
            </a:r>
          </a:p>
          <a:p>
            <a:r>
              <a:t> └────┬────┘</a:t>
            </a:r>
          </a:p>
          <a:p>
            <a:r>
              <a:t>     │</a:t>
            </a:r>
          </a:p>
          <a:p>
            <a:r>
              <a:t>     ▼</a:t>
            </a:r>
          </a:p>
          <a:p>
            <a:r>
              <a:t> ┌─────────┐</a:t>
            </a:r>
          </a:p>
          <a:p>
            <a:r>
              <a:t> │ EXTERNAL│  Final review?</a:t>
            </a:r>
          </a:p>
          <a:p>
            <a:r>
              <a:t> │ REVIEW  │</a:t>
            </a:r>
          </a:p>
          <a:p>
            <a:r>
              <a:t> └────┬────┘</a:t>
            </a:r>
          </a:p>
          <a:p>
            <a:r>
              <a:t>     │</a:t>
            </a:r>
          </a:p>
          <a:p>
            <a:r>
              <a:t>     ▼</a:t>
            </a:r>
          </a:p>
          <a:p>
            <a:r>
              <a:t> ┌─────────┐</a:t>
            </a:r>
          </a:p>
          <a:p>
            <a:r>
              <a:t> │ OUTPUT  │</a:t>
            </a:r>
          </a:p>
          <a:p>
            <a:r>
              <a:t> │ACCEPTED│</a:t>
            </a:r>
          </a:p>
          <a:p>
            <a:r>
              <a:t> └─────────┘</a:t>
            </a:r>
          </a:p>
          <a:p/>
          <a:p>
            <a:r>
              <a:t>Finding: Structured output format had NO effect on security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4: Infrastructure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Stack:</a:t>
            </a:r>
          </a:p>
          <a:p/>
          <a:p>
            <a:r>
              <a:t>┌─────────────────────────────────────┐</a:t>
            </a:r>
          </a:p>
          <a:p>
            <a:r>
              <a:t>│           LLM SESSION                │</a:t>
            </a:r>
          </a:p>
          <a:p>
            <a:r>
              <a:t>│    (No direct system access)         │</a:t>
            </a:r>
          </a:p>
          <a:p>
            <a:r>
              <a:t>└─────────────────────────────────────┘</a:t>
            </a:r>
          </a:p>
          <a:p>
            <a:r>
              <a:t>                 │</a:t>
            </a:r>
          </a:p>
          <a:p>
            <a:r>
              <a:t>                 ▼</a:t>
            </a:r>
          </a:p>
          <a:p>
            <a:r>
              <a:t>┌─────────────────────────────────────┐</a:t>
            </a:r>
          </a:p>
          <a:p>
            <a:r>
              <a:t>│              GATEWAY                 │</a:t>
            </a:r>
          </a:p>
          <a:p>
            <a:r>
              <a:t>│ ┌─────────┐ ┌─────────┐ ┌─────────┐ │</a:t>
            </a:r>
          </a:p>
          <a:p>
            <a:r>
              <a:t>│ │ TOOL A  │ │ TOOL B   │ │ TOOL C   │ │</a:t>
            </a:r>
          </a:p>
          <a:p>
            <a:r>
              <a:t>│ │ isolated│ │sandboxed │ │sandboxed │ │</a:t>
            </a:r>
          </a:p>
          <a:p>
            <a:r>
              <a:t>│ └─────────┘ └─────────┘ └─────────┘ │</a:t>
            </a:r>
          </a:p>
          <a:p>
            <a:r>
              <a:t>└─────────────────────────────────────┘</a:t>
            </a:r>
          </a:p>
          <a:p>
            <a:r>
              <a:t>                 │</a:t>
            </a:r>
          </a:p>
          <a:p>
            <a:r>
              <a:t>                 ▼</a:t>
            </a:r>
          </a:p>
          <a:p>
            <a:r>
              <a:t>┌─────────────────────────────────────┐</a:t>
            </a:r>
          </a:p>
          <a:p>
            <a:r>
              <a:t>│         EXTERNAL RESOURCES           │</a:t>
            </a:r>
          </a:p>
          <a:p>
            <a:r>
              <a:t>│ ┌─────────┐ ┌─────────┐ ┌─────────┐ │</a:t>
            </a:r>
          </a:p>
          <a:p>
            <a:r>
              <a:t>│ │ DATABASE │ │ API     │ │ FILESYSTEM│ │</a:t>
            </a:r>
          </a:p>
          <a:p>
            <a:r>
              <a:t>│ └─────────┘ └─────────┘ └─────────┘ │</a:t>
            </a:r>
          </a:p>
          <a:p>
            <a:r>
              <a:t>└─────────────────────────────────────┘</a:t>
            </a:r>
          </a:p>
          <a:p/>
          <a:p>
            <a:r>
              <a:t>Three sandbox requirements:</a:t>
            </a:r>
          </a:p>
          <a:p>
            <a:r>
              <a:t>1. Resource limits (time, memory, output)</a:t>
            </a:r>
          </a:p>
          <a:p>
            <a:r>
              <a:t>2. Network restrictions</a:t>
            </a:r>
          </a:p>
          <a:p>
            <a:r>
              <a:t>3. Permission separation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5: Temporal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Session Lifecycle:</a:t>
            </a:r>
          </a:p>
          <a:p/>
          <a:p>
            <a:r>
              <a:t>Create → [20 turns or 5 min] → Rotate</a:t>
            </a:r>
          </a:p>
          <a:p>
            <a:r>
              <a:t>           │</a:t>
            </a:r>
          </a:p>
          <a:p>
            <a:r>
              <a:t>           ▼</a:t>
            </a:r>
          </a:p>
          <a:p>
            <a:r>
              <a:t>        Session Expired</a:t>
            </a:r>
          </a:p>
          <a:p>
            <a:r>
              <a:t>           │</a:t>
            </a:r>
          </a:p>
          <a:p>
            <a:r>
              <a:t>           ▼</a:t>
            </a:r>
          </a:p>
          <a:p>
            <a:r>
              <a:t>         Purge Context</a:t>
            </a:r>
          </a:p>
          <a:p>
            <a:r>
              <a:t>           │</a:t>
            </a:r>
          </a:p>
          <a:p>
            <a:r>
              <a:t>           ▼</a:t>
            </a:r>
          </a:p>
          <a:p>
            <a:r>
              <a:t>         Reset Session</a:t>
            </a:r>
          </a:p>
          <a:p/>
          <a:p>
            <a:r>
              <a:t>WHY 20 TURNS?</a:t>
            </a:r>
          </a:p>
          <a:p/>
          <a:p>
            <a:r>
              <a:t>Deception Detection Degradation:</a:t>
            </a:r>
          </a:p>
          <a:p>
            <a:r>
              <a:t>Turn 1-10:   ████████████████████████████████ 100%</a:t>
            </a:r>
          </a:p>
          <a:p>
            <a:r>
              <a:t>Turn 11-20:  ██████████████████████████████░░░░ 92%</a:t>
            </a:r>
          </a:p>
          <a:p>
            <a:r>
              <a:t>Turn 21-30:  ██████████████████████████████░░░░░░░░░░░ 84%</a:t>
            </a:r>
          </a:p>
          <a:p>
            <a:r>
              <a:t>Turn 31-40:  ██████████████████████████████░░░░░░░░░░░░░░░ 70%</a:t>
            </a:r>
          </a:p>
          <a:p>
            <a:r>
              <a:t>Turn 41-50:  ███████████████████████░░░░░░░░░░░░░░░░░░░░░░ 55%</a:t>
            </a:r>
          </a:p>
          <a:p>
            <a:r>
              <a:t>Turn 51-60:  ████████████████░░░░░░░░░░░░░░░░░░░░░░░░░░░░░ 42%</a:t>
            </a:r>
          </a:p>
          <a:p>
            <a:r>
              <a:t>Turn 61+:    ████████░░░░░░░░░░░░░░░░░░░░░░░░░░░░░░░░░░░░░ 36%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Pattern 1: Basic (Minimum)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[Sanitize] → [Template] → [LLM]</a:t>
            </a:r>
          </a:p>
          <a:p>
            <a:r>
              <a:t>           │                │</a:t>
            </a:r>
          </a:p>
          <a:p>
            <a:r>
              <a:t>       [Schema]         [Validate]</a:t>
            </a:r>
          </a:p>
          <a:p>
            <a:r>
              <a:t>           │                │</a:t>
            </a:r>
          </a:p>
          <a:p>
            <a:r>
              <a:t>           └────────────────┘</a:t>
            </a:r>
          </a:p>
          <a:p>
            <a:r>
              <a:t>                 │</a:t>
            </a:r>
          </a:p>
          <a:p>
            <a:r>
              <a:t>                 ▼</a:t>
            </a:r>
          </a:p>
          <a:p>
            <a:r>
              <a:t>              Output</a:t>
            </a:r>
          </a:p>
          <a:p/>
          <a:p>
            <a:r>
              <a:t>Strengths: Simple, affordable</a:t>
            </a:r>
          </a:p>
          <a:p>
            <a:r>
              <a:t>Weaknesses: Single point of failure</a:t>
            </a:r>
          </a:p>
          <a:p>
            <a:r>
              <a:t>Risk: Moderate security</a:t>
            </a:r>
          </a:p>
          <a:p/>
          <a:p>
            <a:r>
              <a:t>Best for: Low-risk internal tools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Pattern 2: Verified (Recommended)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[Sanitize] → [Template]</a:t>
            </a:r>
          </a:p>
          <a:p>
            <a:r>
              <a:t>           │</a:t>
            </a:r>
          </a:p>
          <a:p>
            <a:r>
              <a:t>           ▼</a:t>
            </a:r>
          </a:p>
          <a:p>
            <a:r>
              <a:t>       ┌─────────┐</a:t>
            </a:r>
          </a:p>
          <a:p>
            <a:r>
              <a:t>       │  ROUTER  │</a:t>
            </a:r>
          </a:p>
          <a:p>
            <a:r>
              <a:t>       └────┬────┘</a:t>
            </a:r>
          </a:p>
          <a:p>
            <a:r>
              <a:t>            │</a:t>
            </a:r>
          </a:p>
          <a:p>
            <a:r>
              <a:t> ┌──────────┼───────────┐</a:t>
            </a:r>
          </a:p>
          <a:p>
            <a:r>
              <a:t> ▼         ▼           ▼</a:t>
            </a:r>
          </a:p>
          <a:p>
            <a:r>
              <a:t>┌───┐     ┌───┐       ┌───┐</a:t>
            </a:r>
          </a:p>
          <a:p>
            <a:r>
              <a:t>│A1 │     │A2 │       │A3 │  (Heterogeneous)</a:t>
            </a:r>
          </a:p>
          <a:p>
            <a:r>
              <a:t>└─┬─┘     └─┬─┘       └─┬─┘</a:t>
            </a:r>
          </a:p>
          <a:p>
            <a:r>
              <a:t> └──┬────────┴───────────┘</a:t>
            </a:r>
          </a:p>
          <a:p>
            <a:r>
              <a:t>    │</a:t>
            </a:r>
          </a:p>
          <a:p>
            <a:r>
              <a:t> ┌────┬────┐</a:t>
            </a:r>
          </a:p>
          <a:p>
            <a:r>
              <a:t> │CONS│    Consensus check</a:t>
            </a:r>
          </a:p>
          <a:p>
            <a:r>
              <a:t> │ENTUS│</a:t>
            </a:r>
          </a:p>
          <a:p>
            <a:r>
              <a:t> └────┬────┘</a:t>
            </a:r>
          </a:p>
          <a:p>
            <a:r>
              <a:t>     │</a:t>
            </a:r>
          </a:p>
          <a:p>
            <a:r>
              <a:t> ┌────┬────┐</a:t>
            </a:r>
          </a:p>
          <a:p>
            <a:r>
              <a:t> │VERIFY│    Semantic verification</a:t>
            </a:r>
          </a:p>
          <a:p>
            <a:r>
              <a:t> └────┬────┘</a:t>
            </a:r>
          </a:p>
          <a:p>
            <a:r>
              <a:t>     │</a:t>
            </a:r>
          </a:p>
          <a:p>
            <a:r>
              <a:t>     ▼</a:t>
            </a:r>
          </a:p>
          <a:p>
            <a:r>
              <a:t>   Output</a:t>
            </a:r>
          </a:p>
          <a:p/>
          <a:p>
            <a:r>
              <a:t>Strengths: Independent verification</a:t>
            </a:r>
          </a:p>
          <a:p>
            <a:r>
              <a:t>Weaknesses: Higher cost, more complex</a:t>
            </a:r>
          </a:p>
          <a:p/>
          <a:p>
            <a:r>
              <a:t>Best for: Security-sensitive applications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Pattern 3: Enterprise (Maximum)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[Rate Limit] → [Input Sanitize]</a:t>
            </a:r>
          </a:p>
          <a:p>
            <a:r>
              <a:t>           │              │</a:t>
            </a:r>
          </a:p>
          <a:p>
            <a:r>
              <a:t>       [Session]    [Template Bound]</a:t>
            </a:r>
          </a:p>
          <a:p>
            <a:r>
              <a:t>           │          │</a:t>
            </a:r>
          </a:p>
          <a:p>
            <a:r>
              <a:t>           ▼          ▼</a:t>
            </a:r>
          </a:p>
          <a:p>
            <a:r>
              <a:t>       ┌─────────────────┐</a:t>
            </a:r>
          </a:p>
          <a:p>
            <a:r>
              <a:t>       │   ROUTER (Hetero) │</a:t>
            </a:r>
          </a:p>
          <a:p>
            <a:r>
              <a:t>       └────────┬────────┘</a:t>
            </a:r>
          </a:p>
          <a:p>
            <a:r>
              <a:t>                 │</a:t>
            </a:r>
          </a:p>
          <a:p>
            <a:r>
              <a:t> ┌──────────────┼────────────────┐</a:t>
            </a:r>
          </a:p>
          <a:p>
            <a:r>
              <a:t> ▼              ▼              ▼</a:t>
            </a:r>
          </a:p>
          <a:p>
            <a:r>
              <a:t>┌───┐          ┌───┐          ┌───┐</a:t>
            </a:r>
          </a:p>
          <a:p>
            <a:r>
              <a:t>│A1 │          │A2 │          │A3 │</a:t>
            </a:r>
          </a:p>
          <a:p>
            <a:r>
              <a:t>└─┬─┘          └─┬─┘          └─┬─┘</a:t>
            </a:r>
          </a:p>
          <a:p>
            <a:r>
              <a:t> └───┬────────────┴──────────────┘</a:t>
            </a:r>
          </a:p>
          <a:p>
            <a:r>
              <a:t>     │</a:t>
            </a:r>
          </a:p>
          <a:p>
            <a:r>
              <a:t> ┌────┬────┐            ┌─────────────────┐</a:t>
            </a:r>
          </a:p>
          <a:p>
            <a:r>
              <a:t> │CONS│    ────────▶│    TOOLS        │</a:t>
            </a:r>
          </a:p>
          <a:p>
            <a:r>
              <a:t> │ENTUS│    [Check]  │   (Sandboxed)   │</a:t>
            </a:r>
          </a:p>
          <a:p>
            <a:r>
              <a:t> └────┬────┘            └────────┬────────┘</a:t>
            </a:r>
          </a:p>
          <a:p>
            <a:r>
              <a:t>     │                          │</a:t>
            </a:r>
          </a:p>
          <a:p>
            <a:r>
              <a:t> ┌────┬────┐                      │</a:t>
            </a:r>
          </a:p>
          <a:p>
            <a:r>
              <a:t> │VERIFY│    ──────────────────┘</a:t>
            </a:r>
          </a:p>
          <a:p>
            <a:r>
              <a:t> └────┬────┘</a:t>
            </a:r>
          </a:p>
          <a:p>
            <a:r>
              <a:t>     │</a:t>
            </a:r>
          </a:p>
          <a:p>
            <a:r>
              <a:t> ┌────┬────┐</a:t>
            </a:r>
          </a:p>
          <a:p>
            <a:r>
              <a:t> │OUTPUT│    [Schema + Semantic + Anomaly]</a:t>
            </a:r>
          </a:p>
          <a:p>
            <a:r>
              <a:t> │VALID │</a:t>
            </a:r>
          </a:p>
          <a:p>
            <a:r>
              <a:t> └────┬────┘</a:t>
            </a:r>
          </a:p>
          <a:p>
            <a:r>
              <a:t>     │</a:t>
            </a:r>
          </a:p>
          <a:p>
            <a:r>
              <a:t> ┌────┬────┐</a:t>
            </a:r>
          </a:p>
          <a:p>
            <a:r>
              <a:t> │ AUDIT│    [Log everything]</a:t>
            </a:r>
          </a:p>
          <a:p>
            <a:r>
              <a:t> └────┬────┘</a:t>
            </a:r>
          </a:p>
          <a:p>
            <a:r>
              <a:t>     │</a:t>
            </a:r>
          </a:p>
          <a:p>
            <a:r>
              <a:t>     ▼</a:t>
            </a:r>
          </a:p>
          <a:p>
            <a:r>
              <a:t>   Output</a:t>
            </a:r>
          </a:p>
          <a:p/>
          <a:p>
            <a:r>
              <a:t>Best for: Healthcare, finance, government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API Gateway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VULNERABLE ARCHITECTURE:</a:t>
            </a:r>
          </a:p>
          <a:p>
            <a:r>
              <a:t>User → API → LLM "route this" → Handler → Response</a:t>
            </a:r>
          </a:p>
          <a:p>
            <a:r>
              <a:t>        ↑</a:t>
            </a:r>
          </a:p>
          <a:p>
            <a:r>
              <a:t>    Parameter injection: "; list all users; "</a:t>
            </a:r>
          </a:p>
          <a:p/>
          <a:p>
            <a:r>
              <a:t>REMEDIED ARCHITECTURE:</a:t>
            </a:r>
          </a:p>
          <a:p>
            <a:r>
              <a:t>User → [Rate Limit] → [Input Sanitize]</a:t>
            </a:r>
          </a:p>
          <a:p>
            <a:r>
              <a:t>      ↓              ↓</a:t>
            </a:r>
          </a:p>
          <a:p>
            <a:r>
              <a:t>      [Template] → [LLM Pool]</a:t>
            </a:r>
          </a:p>
          <a:p>
            <a:r>
              <a:t>                    ↓</a:t>
            </a:r>
          </a:p>
          <a:p>
            <a:r>
              <a:t>      [Verifications]</a:t>
            </a:r>
          </a:p>
          <a:p>
            <a:r>
              <a:t>                    ↓</a:t>
            </a:r>
          </a:p>
          <a:p>
            <a:r>
              <a:t>      [Output Schema]</a:t>
            </a:r>
          </a:p>
          <a:p>
            <a:r>
              <a:t>                    ↓</a:t>
            </a:r>
          </a:p>
          <a:p>
            <a:r>
              <a:t>                    Response</a:t>
            </a:r>
          </a:p>
          <a:p/>
          <a:p>
            <a:r>
              <a:t>Changes made:</a:t>
            </a:r>
          </a:p>
          <a:p>
            <a:r>
              <a:t>✓ Added input sanitization</a:t>
            </a:r>
          </a:p>
          <a:p>
            <a:r>
              <a:t>✓ Template-based routing</a:t>
            </a:r>
          </a:p>
          <a:p>
            <a:r>
              <a:t>✓ Rate limiting</a:t>
            </a:r>
          </a:p>
          <a:p>
            <a:r>
              <a:t>✓ Output validation</a:t>
            </a:r>
          </a:p>
          <a:p>
            <a:r>
              <a:t>✓ Session management</a:t>
            </a:r>
          </a:p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Customer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VULNERABLE:</a:t>
            </a:r>
          </a:p>
          <a:p>
            <a:r>
              <a:t>Customer → [No limits] → LLM → Response</a:t>
            </a:r>
          </a:p>
          <a:p>
            <a:r>
              <a:t>             │</a:t>
            </a:r>
          </a:p>
          <a:p>
            <a:r>
              <a:t>         Progressive erosion succeeds</a:t>
            </a:r>
          </a:p>
          <a:p/>
          <a:p>
            <a:r>
              <a:t>REMEDIED:</a:t>
            </a:r>
          </a:p>
          <a:p>
            <a:r>
              <a:t>Customer → [20-turn limit] → [LLM Pool] → [Scan] → Response</a:t>
            </a:r>
          </a:p>
          <a:p>
            <a:r>
              <a:t>             │</a:t>
            </a:r>
          </a:p>
          <a:p>
            <a:r>
              <a:t>         Session rotates</a:t>
            </a:r>
          </a:p>
          <a:p>
            <a:r>
              <a:t>         Context purged</a:t>
            </a:r>
          </a:p>
          <a:p/>
          <a:p>
            <a:r>
              <a:t>WHY 20 TURNS?</a:t>
            </a:r>
          </a:p>
          <a:p>
            <a:r>
              <a:t>Deception detection drops to 36% after turn 20</a:t>
            </a:r>
          </a:p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Layers Do You Need?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Answer these questions:</a:t>
            </a:r>
          </a:p>
          <a:p/>
          <a:p>
            <a:r>
              <a:t>1. Do users input data directly to your LLM?</a:t>
            </a:r>
          </a:p>
          <a:p>
            <a:r>
              <a:t>   YES → Need Layer 1 (Input Sanitization)</a:t>
            </a:r>
          </a:p>
          <a:p/>
          <a:p>
            <a:r>
              <a:t>2. Do you use multiple agents or chains?</a:t>
            </a:r>
          </a:p>
          <a:p>
            <a:r>
              <a:t>   YES → Need Layer 2 (Verification)</a:t>
            </a:r>
          </a:p>
          <a:p/>
          <a:p>
            <a:r>
              <a:t>3. Does output require guaranteed format/accuracy?</a:t>
            </a:r>
          </a:p>
          <a:p>
            <a:r>
              <a:t>   YES → Need Layer 3 (Output Validation)</a:t>
            </a:r>
          </a:p>
          <a:p/>
          <a:p>
            <a:r>
              <a:t>4. Does your LLM use tools/APIs/files?</a:t>
            </a:r>
          </a:p>
          <a:p>
            <a:r>
              <a:t>   YES → Need Layer 4 (Infrastructure)</a:t>
            </a:r>
          </a:p>
          <a:p/>
          <a:p>
            <a:r>
              <a:t>5. Are conversations ongoing or high-volume?</a:t>
            </a:r>
          </a:p>
          <a:p>
            <a:r>
              <a:t>   YES → Need Layer 5 (Temporal Controls)</a:t>
            </a:r>
          </a:p>
          <a:p/>
          <a:p>
            <a:r>
              <a:t>All YES? → You need all 5 layers</a:t>
            </a:r>
          </a:p>
          <a:p/>
          <a:p>
            <a:r>
              <a:t>Most production systems need at least 1, 3, 5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WORKS:</a:t>
            </a:r>
          </a:p>
          <a:p>
            <a:r>
              <a:t>- External controls, not just better prompts</a:t>
            </a:r>
          </a:p>
          <a:p>
            <a:r>
              <a:t>- Multiple independent verification points</a:t>
            </a:r>
          </a:p>
          <a:p>
            <a:r>
              <a:t>- Heterogeneous model diversity</a:t>
            </a:r>
          </a:p>
          <a:p>
            <a:r>
              <a:t>- Session rotation (every 20 turns or 5 min)</a:t>
            </a:r>
          </a:p>
          <a:p>
            <a:r>
              <a:t>- Tool isolation with explicit permissions</a:t>
            </a:r>
          </a:p>
          <a:p>
            <a:r>
              <a:t>- Comprehensive audit logging</a:t>
            </a:r>
          </a:p>
          <a:p/>
          <a:p>
            <a:r>
              <a:t>WHAT DOESN'T WORK:</a:t>
            </a:r>
          </a:p>
          <a:p>
            <a:r>
              <a:t>- Single model chain depth</a:t>
            </a:r>
          </a:p>
          <a:p>
            <a:r>
              <a:t>- Output format requirements alone</a:t>
            </a:r>
          </a:p>
          <a:p>
            <a:r>
              <a:t>- Sophisticated instructions only</a:t>
            </a:r>
          </a:p>
          <a:p>
            <a:r>
              <a:t>- One model verifying itself</a:t>
            </a:r>
          </a:p>
          <a:p/>
          <a:p>
            <a:r>
              <a:t>KEY PRINCIPLE:</a:t>
            </a:r>
          </a:p>
          <a:p>
            <a:r>
              <a:t>No single layer is sufficient. All layers are</a:t>
            </a:r>
          </a:p>
          <a:p>
            <a:r>
              <a:t>necessary. Defense must be multi-dimensional.</a:t>
            </a:r>
          </a:p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Summary:</a:t>
            </a:r>
          </a:p>
          <a:p>
            <a:r>
              <a:t>- Research Duration: 7 weeks (May-June 2026)</a:t>
            </a:r>
          </a:p>
          <a:p>
            <a:r>
              <a:t>- Models Tested: Claude Opus 4.8, Gemini Pro/Flash, Local LLMs</a:t>
            </a:r>
          </a:p>
          <a:p>
            <a:r>
              <a:t>- Total Tests: 3,000-5,000+</a:t>
            </a:r>
          </a:p>
          <a:p/>
          <a:p>
            <a:r>
              <a:t>Lead Researcher:</a:t>
            </a:r>
          </a:p>
          <a:p>
            <a:r>
              <a:t>Mitchell Parker | Independent Research</a:t>
            </a:r>
          </a:p>
          <a:p/>
          <a:p>
            <a:r>
              <a:t>Questions?</a:t>
            </a:r>
          </a:p>
          <a:p>
            <a:r>
              <a:t>[Contact details available privately]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